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52" r:id="rId3"/>
  </p:sldMasterIdLst>
  <p:notesMasterIdLst>
    <p:notesMasterId r:id="rId9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Geschätzte monatliche Kosten (USD)</c:v>
                </c:pt>
              </c:strCache>
            </c:strRef>
          </c:tx>
          <c:spPr>
            <a:solidFill>
              <a:srgbClr val="009898"/>
            </a:solidFill>
            <a:effectLst/>
          </c:spPr>
          <c:invertIfNegative val="0"/>
          <c:dLbls>
            <c:numFmt formatCode="&quot;$&quot;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0201F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Gemini
(aktuell)</c:v>
                </c:pt>
                <c:pt idx="1">
                  <c:v>Claude
Haiku</c:v>
                </c:pt>
                <c:pt idx="2">
                  <c:v>OpenAI
Luna</c:v>
                </c:pt>
                <c:pt idx="3">
                  <c:v>Mistral
Small</c:v>
                </c:pt>
                <c:pt idx="4">
                  <c:v>DeepSeek
Flash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4.8</c:v>
                </c:pt>
                <c:pt idx="1">
                  <c:v>3.3</c:v>
                </c:pt>
                <c:pt idx="2">
                  <c:v>0.7</c:v>
                </c:pt>
                <c:pt idx="3">
                  <c:v>0.42</c:v>
                </c:pt>
                <c:pt idx="4">
                  <c:v>0.42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1A-416B-88D0-6736E55F9A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0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DDDD"/>
              </a:solidFill>
              <a:prstDash val="solid"/>
              <a:round/>
            </a:ln>
          </c:spPr>
        </c:majorGridlines>
        <c:numFmt formatCode="&quot;$&quot;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0201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2070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3134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3804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rnst-Abbe-Hochschule Jena">
            <a:extLst>
              <a:ext uri="{FF2B5EF4-FFF2-40B4-BE49-F238E27FC236}">
                <a16:creationId xmlns:a16="http://schemas.microsoft.com/office/drawing/2014/main" id="{7DA025C1-6E03-A156-3750-71DF4A21205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80923" y="115400"/>
            <a:ext cx="1933600" cy="4646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42FE98-045D-94B2-3EEA-26A3152F9CC2}"/>
              </a:ext>
            </a:extLst>
          </p:cNvPr>
          <p:cNvSpPr txBox="1"/>
          <p:nvPr userDrawn="1"/>
        </p:nvSpPr>
        <p:spPr>
          <a:xfrm>
            <a:off x="3047518" y="6489726"/>
            <a:ext cx="60969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400" dirty="0"/>
              <a:t>Prof. Dr. Engelhardt · Elyes Belaidi | EAH Jena · Fachbereich BW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rnst-Abbe-Hochschule Jena">
            <a:extLst>
              <a:ext uri="{FF2B5EF4-FFF2-40B4-BE49-F238E27FC236}">
                <a16:creationId xmlns:a16="http://schemas.microsoft.com/office/drawing/2014/main" id="{7DA025C1-6E03-A156-3750-71DF4A21205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80923" y="115400"/>
            <a:ext cx="1933600" cy="4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27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rnst-Abbe-Hochschule Jena">
            <a:extLst>
              <a:ext uri="{FF2B5EF4-FFF2-40B4-BE49-F238E27FC236}">
                <a16:creationId xmlns:a16="http://schemas.microsoft.com/office/drawing/2014/main" id="{7DA025C1-6E03-A156-3750-71DF4A21205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80923" y="115400"/>
            <a:ext cx="1933600" cy="4646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42FE98-045D-94B2-3EEA-26A3152F9CC2}"/>
              </a:ext>
            </a:extLst>
          </p:cNvPr>
          <p:cNvSpPr txBox="1"/>
          <p:nvPr userDrawn="1"/>
        </p:nvSpPr>
        <p:spPr>
          <a:xfrm>
            <a:off x="3047518" y="6489726"/>
            <a:ext cx="60969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400" dirty="0">
                <a:solidFill>
                  <a:schemeClr val="bg1"/>
                </a:solidFill>
              </a:rPr>
              <a:t>Prof. Dr. Engelhardt · Elyes Belaidi | EAH Jena · Fachbereich BW</a:t>
            </a:r>
          </a:p>
        </p:txBody>
      </p:sp>
    </p:spTree>
    <p:extLst>
      <p:ext uri="{BB962C8B-B14F-4D97-AF65-F5344CB8AC3E}">
        <p14:creationId xmlns:p14="http://schemas.microsoft.com/office/powerpoint/2010/main" val="2215611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D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 txBox="1"/>
          <p:nvPr/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7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EAH JENA VIRTUELLER AVATAR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9202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Vergleich der KI-API-Anbieter</a:t>
            </a:r>
            <a:endParaRPr lang="en-US" sz="38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530C56BE-EFA2-22FB-E44A-419723C5CD59}"/>
              </a:ext>
            </a:extLst>
          </p:cNvPr>
          <p:cNvSpPr txBox="1"/>
          <p:nvPr/>
        </p:nvSpPr>
        <p:spPr>
          <a:xfrm>
            <a:off x="907069" y="5014151"/>
            <a:ext cx="10377861" cy="11563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e-DE" sz="1600" dirty="0">
                <a:solidFill>
                  <a:schemeClr val="bg1"/>
                </a:solidFill>
              </a:rPr>
              <a:t>Prof. Dr. Engelhardt · Elyes Belaidi </a:t>
            </a:r>
          </a:p>
          <a:p>
            <a:r>
              <a:rPr lang="de-DE" sz="1600" dirty="0">
                <a:solidFill>
                  <a:schemeClr val="bg1"/>
                </a:solidFill>
              </a:rPr>
              <a:t>Ernst-Abbe-Hochschule Jena · Fachbereich BW</a:t>
            </a:r>
          </a:p>
          <a:p>
            <a:pPr algn="r"/>
            <a:r>
              <a:rPr lang="de-DE" sz="1600" dirty="0">
                <a:solidFill>
                  <a:schemeClr val="bg1"/>
                </a:solidFill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Fünf Anbieter im Vergleich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Preise pro 1 Million Tokens · September 2026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28346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Anbieter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Datenstandort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02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Gemini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02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 Flash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02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02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02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02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Claude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02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4.5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02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02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02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02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02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GPT-5.6 Luna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02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02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02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02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02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02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02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02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(Paris)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02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02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V4.1 Flash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02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02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02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480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Hervorgehobene Zeile = aktueller Anbieter (bereits integriert, keine Migrationskosten)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48640" y="5029200"/>
            <a:ext cx="201168" cy="201168"/>
          </a:xfrm>
          <a:prstGeom prst="ellipse">
            <a:avLst/>
          </a:prstGeom>
          <a:solidFill>
            <a:srgbClr val="00989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 txBox="1"/>
          <p:nvPr/>
        </p:nvSpPr>
        <p:spPr>
          <a:xfrm>
            <a:off x="868680" y="497433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0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USA-basiert (3)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06240" y="502920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 txBox="1"/>
          <p:nvPr/>
        </p:nvSpPr>
        <p:spPr>
          <a:xfrm>
            <a:off x="4526280" y="497433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0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EU-basiert — DSGVO-konform (1)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863840" y="5029200"/>
            <a:ext cx="201168" cy="20116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 txBox="1"/>
          <p:nvPr/>
        </p:nvSpPr>
        <p:spPr>
          <a:xfrm>
            <a:off x="8183880" y="497433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0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China-basiert (1)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Geschätzte monatliche Kosten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ca. 3.000 Besucherfragen/Monat — alle Optionen sind in dieser Größenordnung günstig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731520" y="1645920"/>
          <a:ext cx="106984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für dieses Projekt wirklich zählt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3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731520" cy="731520"/>
          </a:xfrm>
          <a:prstGeom prst="ellipse">
            <a:avLst/>
          </a:prstGeom>
          <a:solidFill>
            <a:srgbClr val="00989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5" name="Image 0" descr="/home/claude/pptx-build/icons/dol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" y="1698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 sind nicht entscheidend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181051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Option kostet unter 5 $/Monat bei der erwarteten Nutzung — die Unterschiede sind real, aber in dieser Größenordnung irrelevant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3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6"/>
          <p:cNvSpPr/>
          <p:nvPr/>
        </p:nvSpPr>
        <p:spPr>
          <a:xfrm>
            <a:off x="777240" y="2834640"/>
            <a:ext cx="731520" cy="731520"/>
          </a:xfrm>
          <a:prstGeom prst="ellipse">
            <a:avLst/>
          </a:prstGeom>
          <a:solidFill>
            <a:srgbClr val="00989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0" name="Image 1" descr="/home/claude/pptx-build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435" y="302483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737360" y="27432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Zuverlässigkeit zählt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737360" y="313639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Bezahlte Stufen beheben die Drosselung der kostenlosen Stufe — genau das Problem, das beim Testen aufgetreten ist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9319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3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Shape 10"/>
          <p:cNvSpPr/>
          <p:nvPr/>
        </p:nvSpPr>
        <p:spPr>
          <a:xfrm>
            <a:off x="777240" y="4160520"/>
            <a:ext cx="731520" cy="731520"/>
          </a:xfrm>
          <a:prstGeom prst="ellipse">
            <a:avLst/>
          </a:prstGeom>
          <a:solidFill>
            <a:srgbClr val="00989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5" name="Image 2" descr="/home/claude/pptx-build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435" y="435071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37360" y="40690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Datenstandort kann relevant sein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737360" y="446227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ist die einzige EU-gehostete, DSGVO-konforme Option — es lohnt sich, bei der EAH Jena nachzufragen, ob dies eine Vorgabe ist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52578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3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Shape 14"/>
          <p:cNvSpPr/>
          <p:nvPr/>
        </p:nvSpPr>
        <p:spPr>
          <a:xfrm>
            <a:off x="777240" y="5486400"/>
            <a:ext cx="731520" cy="731520"/>
          </a:xfrm>
          <a:prstGeom prst="ellipse">
            <a:avLst/>
          </a:prstGeom>
          <a:solidFill>
            <a:srgbClr val="00989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0" name="Image 3" descr="/home/claude/pptx-build/icons/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435" y="5676595"/>
            <a:ext cx="351130" cy="35113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737360" y="5394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Migrationsaufwand ist real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737360" y="578815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Wechsel von Gemini bedeutet, die Backend-Integration neu zu schreiben und erneut zu testen — das kostet Entwicklungszeit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4D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7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EMPFEHLUNG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 Mistral Small wechseln —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EU-gehostet und am günstigsten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313639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 txBox="1"/>
          <p:nvPr/>
        </p:nvSpPr>
        <p:spPr>
          <a:xfrm>
            <a:off x="960120" y="295351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3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Einzige EU-gehostete Option (Paris) — DSGVO-konform für Besucherdaten einer deutschen Hochschule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849624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 txBox="1"/>
          <p:nvPr/>
        </p:nvSpPr>
        <p:spPr>
          <a:xfrm>
            <a:off x="960120" y="366674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3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Günstigster Anbieter gleichauf mit DeepSeek: ~0,42 $/Monat statt ~4,80 $ bei Gemini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562856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 txBox="1"/>
          <p:nvPr/>
        </p:nvSpPr>
        <p:spPr>
          <a:xfrm>
            <a:off x="960120" y="437997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3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bezahlte Stufe vermeidet die Drosselung der kostenlosen Stufe, die beim Testen aufgetreten ist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5276088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 txBox="1"/>
          <p:nvPr/>
        </p:nvSpPr>
        <p:spPr>
          <a:xfrm>
            <a:off x="960120" y="509320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3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Einmaliger Migrationsaufwand (Backend neu anbinden und testen) — Datenschutzvorgabe vorab mit der EAH klären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</Words>
  <Application>Microsoft Office PowerPoint</Application>
  <PresentationFormat>Widescreen</PresentationFormat>
  <Paragraphs>64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KI-API-Vergleich — EAH Jena Avatar-Assistent</dc:title>
  <dc:subject>PptxGenJS Presentation</dc:subject>
  <dc:creator>Elyes</dc:creator>
  <cp:lastModifiedBy>Melio 225</cp:lastModifiedBy>
  <cp:revision>23</cp:revision>
  <dcterms:created xsi:type="dcterms:W3CDTF">2026-09-22T06:57:18Z</dcterms:created>
  <dcterms:modified xsi:type="dcterms:W3CDTF">2026-09-24T22:05:26Z</dcterms:modified>
</cp:coreProperties>
</file>